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336B9-96BE-0476-3350-7A70318BFE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id="{091E1C46-D6BD-41D1-9DEF-821C517054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9927C8B5-9D19-21F1-C5D5-68B2C1D0E34E}"/>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5" name="Footer Placeholder 4">
            <a:extLst>
              <a:ext uri="{FF2B5EF4-FFF2-40B4-BE49-F238E27FC236}">
                <a16:creationId xmlns:a16="http://schemas.microsoft.com/office/drawing/2014/main" id="{1DEF2F81-D5E7-4E68-D8BD-E26141DB3121}"/>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ECF05A49-C3A9-D0A4-6A8D-8C6E6C6498FF}"/>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4193142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1815B-E60E-3A32-0F3B-6C9DD1C833A1}"/>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ED4A593A-AC99-61C3-534B-4FA361F6BA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2B1871AC-82D1-AEFE-AFFE-867C6039DF16}"/>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5" name="Footer Placeholder 4">
            <a:extLst>
              <a:ext uri="{FF2B5EF4-FFF2-40B4-BE49-F238E27FC236}">
                <a16:creationId xmlns:a16="http://schemas.microsoft.com/office/drawing/2014/main" id="{0674B2FE-E509-B31F-D211-5A69DAE53340}"/>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14B23077-9374-4A8E-5C02-9B071E9D5924}"/>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298936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4A887-8412-F03D-4BA5-578946B152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9FD5A7C7-1551-101A-3257-E95FA86A07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6372FF-2C2A-DF2B-98E0-E8A5BA07047D}"/>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5" name="Footer Placeholder 4">
            <a:extLst>
              <a:ext uri="{FF2B5EF4-FFF2-40B4-BE49-F238E27FC236}">
                <a16:creationId xmlns:a16="http://schemas.microsoft.com/office/drawing/2014/main" id="{5A26167A-8BA2-9895-328A-A5F89F1930CB}"/>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86E46F49-836F-F12D-AAE1-DEA7664025AD}"/>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493881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6D56-0828-0F91-991F-755F35E1A2DA}"/>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0A14B813-3D5E-D320-8749-FFD055DEDC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id="{FC5BF915-07AB-678C-D7D0-1F2CB8EE55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id="{00494689-53C5-DD91-AB95-B18EBF0FA64B}"/>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6" name="Footer Placeholder 5">
            <a:extLst>
              <a:ext uri="{FF2B5EF4-FFF2-40B4-BE49-F238E27FC236}">
                <a16:creationId xmlns:a16="http://schemas.microsoft.com/office/drawing/2014/main" id="{AB2794E9-FE2C-58A0-775D-4EB80D25967F}"/>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8E3AD19B-2118-D865-A0B0-468B2EE042AA}"/>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305660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FB364-BE83-5B73-E10D-79A7A6ED0982}"/>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id="{55DE62B7-B687-2B22-F2A9-EE88B85825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E2D30A-2AA4-1AB0-09AE-FC3A4EA52A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id="{4A244C0B-FE26-7C0E-4E0A-8A7D0E3622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05C528-F244-8B5D-5519-8BCEF8E740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id="{AEB52848-17AF-CC7C-322F-E149990E2456}"/>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8" name="Footer Placeholder 7">
            <a:extLst>
              <a:ext uri="{FF2B5EF4-FFF2-40B4-BE49-F238E27FC236}">
                <a16:creationId xmlns:a16="http://schemas.microsoft.com/office/drawing/2014/main" id="{585C1C78-34E1-55ED-316E-19ECA4809543}"/>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61CD73AA-9800-BF2D-B359-BEBEB91F8DAC}"/>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950781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3019-4361-9883-9E3B-75868B8F9031}"/>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id="{DFBDA67C-5933-910F-F798-1E2072799655}"/>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4" name="Footer Placeholder 3">
            <a:extLst>
              <a:ext uri="{FF2B5EF4-FFF2-40B4-BE49-F238E27FC236}">
                <a16:creationId xmlns:a16="http://schemas.microsoft.com/office/drawing/2014/main" id="{CFC9E73E-B3C2-61C3-C199-0225523E17F8}"/>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384AB4FE-5321-12C9-6014-6E5231FA814B}"/>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250566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97070-7F2F-3A5E-0B02-087238C47986}"/>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3" name="Footer Placeholder 2">
            <a:extLst>
              <a:ext uri="{FF2B5EF4-FFF2-40B4-BE49-F238E27FC236}">
                <a16:creationId xmlns:a16="http://schemas.microsoft.com/office/drawing/2014/main" id="{7B7BA2CA-5FC2-37F7-EB34-57DBC5A5A3DA}"/>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8937E707-137C-3F22-474D-8B0193FA2069}"/>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216363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0D0F3-380D-4701-3DC7-EA14849DC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id="{B8D4C8F4-3BF0-DE02-651D-AE7A257B3D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id="{A43C5DC6-C129-3320-913A-36D63AF35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BBAF0F-78C6-10B1-35EF-C85EA1C35A56}"/>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6" name="Footer Placeholder 5">
            <a:extLst>
              <a:ext uri="{FF2B5EF4-FFF2-40B4-BE49-F238E27FC236}">
                <a16:creationId xmlns:a16="http://schemas.microsoft.com/office/drawing/2014/main" id="{2B3ACCDF-AF84-2124-02CC-B0DC84E43177}"/>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94ED84CB-AFCB-C8AE-54AA-FFF42DA8BD09}"/>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744713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B6D15-E465-6EEE-3AC8-AC7DE38E6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id="{018C5550-92D3-F997-0CD8-CB2C502E0F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id="{C0F2B148-179F-C5A4-03CF-31995946B7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F09F87-2D1E-08BF-06BB-3BC42BD6BFFB}"/>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6" name="Footer Placeholder 5">
            <a:extLst>
              <a:ext uri="{FF2B5EF4-FFF2-40B4-BE49-F238E27FC236}">
                <a16:creationId xmlns:a16="http://schemas.microsoft.com/office/drawing/2014/main" id="{20B49018-BE7F-72B0-4A2A-141C3B805037}"/>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0F894EF7-45BC-0A29-2AD8-8A579FDE3902}"/>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834756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3ED08-E793-79FB-F527-EADB6B751863}"/>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B2F4A11E-E2EF-09FD-56C1-589BD578A7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6F4F5F0A-5A81-8DF7-BAE3-051D8FB7AE0A}"/>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5" name="Footer Placeholder 4">
            <a:extLst>
              <a:ext uri="{FF2B5EF4-FFF2-40B4-BE49-F238E27FC236}">
                <a16:creationId xmlns:a16="http://schemas.microsoft.com/office/drawing/2014/main" id="{F1A508CB-8084-17AE-E8F6-8BB40F27FCF9}"/>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B6901E2F-2702-0349-22CA-6474A8FF4440}"/>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010945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3D0797-AF46-BDF8-F3FA-1F715ECA48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0067122F-7A9E-1247-3ABC-30239226E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F63BB3D6-1D01-D6F6-289C-F1E24B3912D4}"/>
              </a:ext>
            </a:extLst>
          </p:cNvPr>
          <p:cNvSpPr>
            <a:spLocks noGrp="1"/>
          </p:cNvSpPr>
          <p:nvPr>
            <p:ph type="dt" sz="half" idx="10"/>
          </p:nvPr>
        </p:nvSpPr>
        <p:spPr/>
        <p:txBody>
          <a:bodyPr/>
          <a:lstStyle/>
          <a:p>
            <a:fld id="{7BF1EFF9-EEB7-4840-B4A6-7D05B9478714}" type="datetimeFigureOut">
              <a:rPr lang="pt-BR" smtClean="0"/>
              <a:t>29/06/2025</a:t>
            </a:fld>
            <a:endParaRPr lang="pt-BR"/>
          </a:p>
        </p:txBody>
      </p:sp>
      <p:sp>
        <p:nvSpPr>
          <p:cNvPr id="5" name="Footer Placeholder 4">
            <a:extLst>
              <a:ext uri="{FF2B5EF4-FFF2-40B4-BE49-F238E27FC236}">
                <a16:creationId xmlns:a16="http://schemas.microsoft.com/office/drawing/2014/main" id="{12CB0A41-E2D1-F141-4C98-C5621EAF1D87}"/>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D1621F1D-3870-A53C-0B76-3C67F8A7ACC4}"/>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032744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CDF929-2937-3807-82F5-D1916B02F4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id="{67C9C673-CFAB-8011-B89D-BCBED5670C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1EA6BE31-76ED-F53D-30E3-44BF20C031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F1EFF9-EEB7-4840-B4A6-7D05B9478714}" type="datetimeFigureOut">
              <a:rPr lang="pt-BR" smtClean="0"/>
              <a:t>29/06/2025</a:t>
            </a:fld>
            <a:endParaRPr lang="pt-BR"/>
          </a:p>
        </p:txBody>
      </p:sp>
      <p:sp>
        <p:nvSpPr>
          <p:cNvPr id="5" name="Footer Placeholder 4">
            <a:extLst>
              <a:ext uri="{FF2B5EF4-FFF2-40B4-BE49-F238E27FC236}">
                <a16:creationId xmlns:a16="http://schemas.microsoft.com/office/drawing/2014/main" id="{F81721C5-79FA-E00A-1109-60C9A40227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Slide Number Placeholder 5">
            <a:extLst>
              <a:ext uri="{FF2B5EF4-FFF2-40B4-BE49-F238E27FC236}">
                <a16:creationId xmlns:a16="http://schemas.microsoft.com/office/drawing/2014/main" id="{6D5D8A90-556C-90C1-D832-9B74E9B58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3BB37F-49ED-4DFB-8379-77C925C206CA}" type="slidenum">
              <a:rPr lang="pt-BR" smtClean="0"/>
              <a:t>‹#›</a:t>
            </a:fld>
            <a:endParaRPr lang="pt-BR"/>
          </a:p>
        </p:txBody>
      </p:sp>
    </p:spTree>
    <p:extLst>
      <p:ext uri="{BB962C8B-B14F-4D97-AF65-F5344CB8AC3E}">
        <p14:creationId xmlns:p14="http://schemas.microsoft.com/office/powerpoint/2010/main" val="2878918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64DA8-4729-90FF-6D20-0C1DC063AA22}"/>
              </a:ext>
            </a:extLst>
          </p:cNvPr>
          <p:cNvSpPr>
            <a:spLocks noGrp="1"/>
          </p:cNvSpPr>
          <p:nvPr>
            <p:ph type="ctrTitle"/>
          </p:nvPr>
        </p:nvSpPr>
        <p:spPr/>
        <p:txBody>
          <a:bodyPr/>
          <a:lstStyle/>
          <a:p>
            <a:r>
              <a:rPr lang="en-US" dirty="0"/>
              <a:t>Team Lab Results Report</a:t>
            </a:r>
            <a:endParaRPr lang="pt-BR" dirty="0"/>
          </a:p>
        </p:txBody>
      </p:sp>
      <p:sp>
        <p:nvSpPr>
          <p:cNvPr id="3" name="Subtitle 2">
            <a:extLst>
              <a:ext uri="{FF2B5EF4-FFF2-40B4-BE49-F238E27FC236}">
                <a16:creationId xmlns:a16="http://schemas.microsoft.com/office/drawing/2014/main" id="{FE0916ED-B0DF-1275-07DB-096F22C8441F}"/>
              </a:ext>
            </a:extLst>
          </p:cNvPr>
          <p:cNvSpPr>
            <a:spLocks noGrp="1"/>
          </p:cNvSpPr>
          <p:nvPr>
            <p:ph type="subTitle" idx="1"/>
          </p:nvPr>
        </p:nvSpPr>
        <p:spPr/>
        <p:txBody>
          <a:bodyPr>
            <a:normAutofit lnSpcReduction="10000"/>
          </a:bodyPr>
          <a:lstStyle/>
          <a:p>
            <a:r>
              <a:rPr lang="en-US" b="1" dirty="0"/>
              <a:t>Deepfake Audio Detection Models</a:t>
            </a:r>
            <a:endParaRPr lang="pt-BR" b="1" dirty="0"/>
          </a:p>
          <a:p>
            <a:endParaRPr lang="pt-BR" b="1" dirty="0"/>
          </a:p>
          <a:p>
            <a:r>
              <a:rPr lang="pt-BR" dirty="0"/>
              <a:t>Felipe Nobrega &amp; Zheng Lin</a:t>
            </a:r>
          </a:p>
          <a:p>
            <a:r>
              <a:rPr lang="pt-BR" dirty="0"/>
              <a:t>University of Stuttgart</a:t>
            </a:r>
            <a:endParaRPr lang="en-US" dirty="0"/>
          </a:p>
        </p:txBody>
      </p:sp>
    </p:spTree>
    <p:extLst>
      <p:ext uri="{BB962C8B-B14F-4D97-AF65-F5344CB8AC3E}">
        <p14:creationId xmlns:p14="http://schemas.microsoft.com/office/powerpoint/2010/main" val="167358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B75E0-802A-F9F4-2FB8-B4E8A435D10B}"/>
              </a:ext>
            </a:extLst>
          </p:cNvPr>
          <p:cNvSpPr>
            <a:spLocks noGrp="1"/>
          </p:cNvSpPr>
          <p:nvPr>
            <p:ph type="title"/>
          </p:nvPr>
        </p:nvSpPr>
        <p:spPr/>
        <p:txBody>
          <a:bodyPr/>
          <a:lstStyle/>
          <a:p>
            <a:r>
              <a:rPr lang="en-US" dirty="0"/>
              <a:t>CNN with Wav2Vec v2 - Specifications</a:t>
            </a:r>
            <a:endParaRPr lang="pt-BR" dirty="0"/>
          </a:p>
        </p:txBody>
      </p:sp>
      <p:sp>
        <p:nvSpPr>
          <p:cNvPr id="3" name="Content Placeholder 2">
            <a:extLst>
              <a:ext uri="{FF2B5EF4-FFF2-40B4-BE49-F238E27FC236}">
                <a16:creationId xmlns:a16="http://schemas.microsoft.com/office/drawing/2014/main" id="{C48E4200-4DA8-99CA-1612-3CA20CFF9C09}"/>
              </a:ext>
            </a:extLst>
          </p:cNvPr>
          <p:cNvSpPr>
            <a:spLocks noGrp="1"/>
          </p:cNvSpPr>
          <p:nvPr>
            <p:ph idx="1"/>
          </p:nvPr>
        </p:nvSpPr>
        <p:spPr>
          <a:xfrm>
            <a:off x="838200" y="1499054"/>
            <a:ext cx="10515600" cy="4351338"/>
          </a:xfrm>
        </p:spPr>
        <p:txBody>
          <a:bodyPr>
            <a:noAutofit/>
          </a:bodyPr>
          <a:lstStyle/>
          <a:p>
            <a:pPr marL="0" indent="0">
              <a:buNone/>
            </a:pPr>
            <a:r>
              <a:rPr lang="en-US" sz="1400" b="1" dirty="0"/>
              <a:t>Input Features:</a:t>
            </a:r>
            <a:r>
              <a:rPr lang="en-US" sz="1400" dirty="0"/>
              <a:t> Wav2Vec2 embeddings (768 dimensions) with a sequence length of 199 timeframes.</a:t>
            </a:r>
          </a:p>
          <a:p>
            <a:pPr marL="0" indent="0">
              <a:buNone/>
            </a:pPr>
            <a:r>
              <a:rPr lang="en-US" sz="1400" b="1" dirty="0"/>
              <a:t>Convolutional Layers:</a:t>
            </a:r>
            <a:r>
              <a:rPr lang="en-US" sz="1400" dirty="0"/>
              <a:t> Three 1D convolutional layers with ReLU activation and Batch Normalization:</a:t>
            </a:r>
          </a:p>
          <a:p>
            <a:pPr marL="457200" lvl="1" indent="0">
              <a:buNone/>
            </a:pPr>
            <a:r>
              <a:rPr lang="en-US" sz="1200" dirty="0"/>
              <a:t>Layer 1: 32 filters, kernel size 3, stride 1</a:t>
            </a:r>
          </a:p>
          <a:p>
            <a:pPr marL="457200" lvl="1" indent="0">
              <a:buNone/>
            </a:pPr>
            <a:r>
              <a:rPr lang="en-US" sz="1200" dirty="0"/>
              <a:t>Layer 2: 64 filters, kernel size 3, stride 1</a:t>
            </a:r>
          </a:p>
          <a:p>
            <a:pPr marL="457200" lvl="1" indent="0">
              <a:buNone/>
            </a:pPr>
            <a:r>
              <a:rPr lang="en-US" sz="1200" dirty="0"/>
              <a:t>Layer 3: 128 filters, kernel size 3, stride 1</a:t>
            </a:r>
          </a:p>
          <a:p>
            <a:pPr marL="0" indent="0">
              <a:buNone/>
            </a:pPr>
            <a:r>
              <a:rPr lang="en-US" sz="1400" b="1" dirty="0"/>
              <a:t>Pooling:</a:t>
            </a:r>
            <a:r>
              <a:rPr lang="en-US" sz="1400" dirty="0"/>
              <a:t> Max pooling layers (kernel size 2, stride 2) are applied after each convolutional layer to reduce dimensionality.</a:t>
            </a:r>
          </a:p>
          <a:p>
            <a:pPr marL="0" indent="0">
              <a:buNone/>
            </a:pPr>
            <a:r>
              <a:rPr lang="en-US" sz="1400" b="1" dirty="0"/>
              <a:t>Fully Connected Layers:</a:t>
            </a:r>
            <a:endParaRPr lang="en-US" sz="1400" dirty="0"/>
          </a:p>
          <a:p>
            <a:pPr marL="457200" lvl="1" indent="0">
              <a:buNone/>
            </a:pPr>
            <a:r>
              <a:rPr lang="en-US" sz="1200" dirty="0"/>
              <a:t>First Layer: Linear layer with 256 neurons.</a:t>
            </a:r>
          </a:p>
          <a:p>
            <a:pPr marL="457200" lvl="1" indent="0">
              <a:buNone/>
            </a:pPr>
            <a:r>
              <a:rPr lang="en-US" sz="1200" dirty="0"/>
              <a:t>Second Layer: Linear layer with 64 neurons.</a:t>
            </a:r>
          </a:p>
          <a:p>
            <a:pPr marL="457200" lvl="1" indent="0">
              <a:buNone/>
            </a:pPr>
            <a:r>
              <a:rPr lang="en-US" sz="1200" dirty="0"/>
              <a:t>Output Layer: Linear layer with 1 neuron (sigmoid activation for binary classification).</a:t>
            </a:r>
          </a:p>
          <a:p>
            <a:pPr marL="0" indent="0">
              <a:buNone/>
            </a:pPr>
            <a:r>
              <a:rPr lang="en-US" sz="1400" b="1" dirty="0"/>
              <a:t>Regularization:</a:t>
            </a:r>
            <a:r>
              <a:rPr lang="en-US" sz="1400" dirty="0"/>
              <a:t> Dropout with a probability of 0.5 is applied after the convolutional layers and the first fully connected layer to prevent overfitting.</a:t>
            </a:r>
          </a:p>
          <a:p>
            <a:pPr marL="0" indent="0">
              <a:buNone/>
            </a:pPr>
            <a:r>
              <a:rPr lang="en-US" sz="1400" b="1" dirty="0"/>
              <a:t>Activation Function:</a:t>
            </a:r>
            <a:r>
              <a:rPr lang="en-US" sz="1400" dirty="0"/>
              <a:t> ReLU (Rectified Linear Unit) is used in the convolutional and fully connected layers.</a:t>
            </a:r>
          </a:p>
          <a:p>
            <a:pPr marL="0" indent="0">
              <a:buNone/>
            </a:pPr>
            <a:r>
              <a:rPr lang="en-US" sz="1400" b="1" dirty="0"/>
              <a:t>Loss Function:</a:t>
            </a:r>
            <a:r>
              <a:rPr lang="en-US" sz="1400" dirty="0"/>
              <a:t> Binary Cross-Entropy Loss.</a:t>
            </a:r>
          </a:p>
          <a:p>
            <a:pPr marL="0" indent="0">
              <a:buNone/>
            </a:pPr>
            <a:r>
              <a:rPr lang="en-US" sz="1400" b="1" dirty="0"/>
              <a:t>Optimizer:</a:t>
            </a:r>
            <a:r>
              <a:rPr lang="en-US" sz="1400" dirty="0"/>
              <a:t> Adam optimizer.</a:t>
            </a:r>
          </a:p>
          <a:p>
            <a:pPr marL="0" indent="0">
              <a:buNone/>
            </a:pPr>
            <a:r>
              <a:rPr lang="en-US" sz="1400" b="1" dirty="0"/>
              <a:t>Rationale:</a:t>
            </a:r>
            <a:endParaRPr lang="en-US" sz="1400" dirty="0"/>
          </a:p>
          <a:p>
            <a:pPr marL="0" indent="0">
              <a:buNone/>
            </a:pPr>
            <a:r>
              <a:rPr lang="en-US" sz="1400" dirty="0"/>
              <a:t>The CNN architecture is chosen for its ability to learn local patterns in the frequency domain of the audio signal. The Wav2Vec2 embeddings provide a rich, pre-trained representation of the audio, capturing both spectral and temporal information. The addition of Batch Normalization and Dropout enhances training stability and generalization performance. This model prioritizes explainability, allowing for visualization of feature importance using techniques like Grad-CAM.</a:t>
            </a:r>
          </a:p>
          <a:p>
            <a:pPr marL="0" indent="0">
              <a:buNone/>
            </a:pPr>
            <a:endParaRPr lang="pt-BR" sz="300" dirty="0"/>
          </a:p>
        </p:txBody>
      </p:sp>
    </p:spTree>
    <p:extLst>
      <p:ext uri="{BB962C8B-B14F-4D97-AF65-F5344CB8AC3E}">
        <p14:creationId xmlns:p14="http://schemas.microsoft.com/office/powerpoint/2010/main" val="3817570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3796-59F2-CFD0-2B60-2A1B7CED9383}"/>
              </a:ext>
            </a:extLst>
          </p:cNvPr>
          <p:cNvSpPr>
            <a:spLocks noGrp="1"/>
          </p:cNvSpPr>
          <p:nvPr>
            <p:ph type="title"/>
          </p:nvPr>
        </p:nvSpPr>
        <p:spPr/>
        <p:txBody>
          <a:bodyPr/>
          <a:lstStyle/>
          <a:p>
            <a:r>
              <a:rPr lang="en-US" dirty="0"/>
              <a:t>CNN with Wav2Vec v2 - Results</a:t>
            </a:r>
            <a:endParaRPr lang="pt-BR" dirty="0"/>
          </a:p>
        </p:txBody>
      </p:sp>
      <p:graphicFrame>
        <p:nvGraphicFramePr>
          <p:cNvPr id="4" name="Content Placeholder 3">
            <a:extLst>
              <a:ext uri="{FF2B5EF4-FFF2-40B4-BE49-F238E27FC236}">
                <a16:creationId xmlns:a16="http://schemas.microsoft.com/office/drawing/2014/main" id="{DCC23AAC-96EF-B00D-0EA6-ABBFCD818539}"/>
              </a:ext>
            </a:extLst>
          </p:cNvPr>
          <p:cNvGraphicFramePr>
            <a:graphicFrameLocks noGrp="1"/>
          </p:cNvGraphicFramePr>
          <p:nvPr>
            <p:ph idx="1"/>
            <p:extLst>
              <p:ext uri="{D42A27DB-BD31-4B8C-83A1-F6EECF244321}">
                <p14:modId xmlns:p14="http://schemas.microsoft.com/office/powerpoint/2010/main" val="2778556734"/>
              </p:ext>
            </p:extLst>
          </p:nvPr>
        </p:nvGraphicFramePr>
        <p:xfrm>
          <a:off x="838200" y="1825625"/>
          <a:ext cx="10515600" cy="7416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186543850"/>
                    </a:ext>
                  </a:extLst>
                </a:gridCol>
                <a:gridCol w="5257800">
                  <a:extLst>
                    <a:ext uri="{9D8B030D-6E8A-4147-A177-3AD203B41FA5}">
                      <a16:colId xmlns:a16="http://schemas.microsoft.com/office/drawing/2014/main" val="2356058828"/>
                    </a:ext>
                  </a:extLst>
                </a:gridCol>
              </a:tblGrid>
              <a:tr h="370840">
                <a:tc>
                  <a:txBody>
                    <a:bodyPr/>
                    <a:lstStyle/>
                    <a:p>
                      <a:r>
                        <a:rPr lang="en-US" dirty="0"/>
                        <a:t>Training Loop – Train/Val</a:t>
                      </a:r>
                      <a:endParaRPr lang="pt-BR" dirty="0"/>
                    </a:p>
                  </a:txBody>
                  <a:tcPr/>
                </a:tc>
                <a:tc>
                  <a:txBody>
                    <a:bodyPr/>
                    <a:lstStyle/>
                    <a:p>
                      <a:r>
                        <a:rPr lang="en-US" dirty="0"/>
                        <a:t>Test Set – Final Results</a:t>
                      </a:r>
                      <a:endParaRPr lang="pt-BR" dirty="0"/>
                    </a:p>
                  </a:txBody>
                  <a:tcPr/>
                </a:tc>
                <a:extLst>
                  <a:ext uri="{0D108BD9-81ED-4DB2-BD59-A6C34878D82A}">
                    <a16:rowId xmlns:a16="http://schemas.microsoft.com/office/drawing/2014/main" val="732408860"/>
                  </a:ext>
                </a:extLst>
              </a:tr>
              <a:tr h="370840">
                <a:tc>
                  <a:txBody>
                    <a:bodyPr/>
                    <a:lstStyle/>
                    <a:p>
                      <a:endParaRPr lang="pt-BR" dirty="0"/>
                    </a:p>
                  </a:txBody>
                  <a:tcPr/>
                </a:tc>
                <a:tc>
                  <a:txBody>
                    <a:bodyPr/>
                    <a:lstStyle/>
                    <a:p>
                      <a:endParaRPr lang="pt-BR" dirty="0"/>
                    </a:p>
                  </a:txBody>
                  <a:tcPr/>
                </a:tc>
                <a:extLst>
                  <a:ext uri="{0D108BD9-81ED-4DB2-BD59-A6C34878D82A}">
                    <a16:rowId xmlns:a16="http://schemas.microsoft.com/office/drawing/2014/main" val="416856037"/>
                  </a:ext>
                </a:extLst>
              </a:tr>
            </a:tbl>
          </a:graphicData>
        </a:graphic>
      </p:graphicFrame>
    </p:spTree>
    <p:extLst>
      <p:ext uri="{BB962C8B-B14F-4D97-AF65-F5344CB8AC3E}">
        <p14:creationId xmlns:p14="http://schemas.microsoft.com/office/powerpoint/2010/main" val="4025491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294</Words>
  <Application>Microsoft Office PowerPoint</Application>
  <PresentationFormat>Widescreen</PresentationFormat>
  <Paragraphs>25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Team Lab Results Report</vt:lpstr>
      <vt:lpstr>CNN with Wav2Vec v2 - Specifications</vt:lpstr>
      <vt:lpstr>CNN with Wav2Vec v2 -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Felipe Augusto Nobrega</dc:creator>
  <cp:lastModifiedBy>Felipe Augusto Nobrega</cp:lastModifiedBy>
  <cp:revision>1</cp:revision>
  <dcterms:created xsi:type="dcterms:W3CDTF">2025-06-29T15:40:16Z</dcterms:created>
  <dcterms:modified xsi:type="dcterms:W3CDTF">2025-06-29T15:40:29Z</dcterms:modified>
</cp:coreProperties>
</file>